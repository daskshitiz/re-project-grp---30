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mo Bold" charset="1" panose="020B0704020202020204"/>
      <p:regular r:id="rId13"/>
    </p:embeddedFont>
    <p:embeddedFont>
      <p:font typeface="Arimo" charset="1" panose="020B0604020202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572625"/>
            <a:ext cx="16459200" cy="28575"/>
            <a:chOff x="0" y="0"/>
            <a:chExt cx="219456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6153445"/>
            <a:ext cx="2671762" cy="957262"/>
            <a:chOff x="0" y="0"/>
            <a:chExt cx="3562350" cy="1276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623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356235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3409950" y="0"/>
                  </a:lnTo>
                  <a:cubicBezTo>
                    <a:pt x="3494151" y="0"/>
                    <a:pt x="3562350" y="68199"/>
                    <a:pt x="3562350" y="152400"/>
                  </a:cubicBezTo>
                  <a:lnTo>
                    <a:pt x="3562350" y="1123950"/>
                  </a:lnTo>
                  <a:cubicBezTo>
                    <a:pt x="3562350" y="1208151"/>
                    <a:pt x="3494151" y="1276350"/>
                    <a:pt x="3409950" y="1276350"/>
                  </a:cubicBezTo>
                  <a:lnTo>
                    <a:pt x="152400" y="1276350"/>
                  </a:lnTo>
                  <a:cubicBezTo>
                    <a:pt x="68199" y="1276350"/>
                    <a:pt x="0" y="1208151"/>
                    <a:pt x="0" y="112395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814762" y="6153445"/>
            <a:ext cx="1885950" cy="957262"/>
            <a:chOff x="0" y="0"/>
            <a:chExt cx="2514600" cy="1276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14600" cy="1276350"/>
            </a:xfrm>
            <a:custGeom>
              <a:avLst/>
              <a:gdLst/>
              <a:ahLst/>
              <a:cxnLst/>
              <a:rect r="r" b="b" t="t" l="l"/>
              <a:pathLst>
                <a:path h="1276350" w="25146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362200" y="0"/>
                  </a:lnTo>
                  <a:cubicBezTo>
                    <a:pt x="2446401" y="0"/>
                    <a:pt x="2514600" y="68199"/>
                    <a:pt x="2514600" y="152400"/>
                  </a:cubicBezTo>
                  <a:lnTo>
                    <a:pt x="2514600" y="1123950"/>
                  </a:lnTo>
                  <a:cubicBezTo>
                    <a:pt x="2514600" y="1208151"/>
                    <a:pt x="2446401" y="1276350"/>
                    <a:pt x="2362200" y="1276350"/>
                  </a:cubicBezTo>
                  <a:lnTo>
                    <a:pt x="152400" y="1276350"/>
                  </a:lnTo>
                  <a:cubicBezTo>
                    <a:pt x="68199" y="1276350"/>
                    <a:pt x="0" y="1208151"/>
                    <a:pt x="0" y="112395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58300" y="2543175"/>
            <a:ext cx="8115300" cy="5429250"/>
            <a:chOff x="0" y="0"/>
            <a:chExt cx="10820400" cy="7239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820400" cy="7239000"/>
            </a:xfrm>
            <a:custGeom>
              <a:avLst/>
              <a:gdLst/>
              <a:ahLst/>
              <a:cxnLst/>
              <a:rect r="r" b="b" t="t" l="l"/>
              <a:pathLst>
                <a:path h="7239000" w="10820400">
                  <a:moveTo>
                    <a:pt x="0" y="0"/>
                  </a:moveTo>
                  <a:lnTo>
                    <a:pt x="10820400" y="0"/>
                  </a:lnTo>
                  <a:lnTo>
                    <a:pt x="1082040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486900" y="2771775"/>
            <a:ext cx="7658100" cy="4972050"/>
            <a:chOff x="0" y="0"/>
            <a:chExt cx="10210800" cy="66294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210800" cy="6629400"/>
            </a:xfrm>
            <a:custGeom>
              <a:avLst/>
              <a:gdLst/>
              <a:ahLst/>
              <a:cxnLst/>
              <a:rect r="r" b="b" t="t" l="l"/>
              <a:pathLst>
                <a:path h="6629400" w="10210800">
                  <a:moveTo>
                    <a:pt x="0" y="0"/>
                  </a:moveTo>
                  <a:lnTo>
                    <a:pt x="10210800" y="0"/>
                  </a:lnTo>
                  <a:lnTo>
                    <a:pt x="10210800" y="6629400"/>
                  </a:lnTo>
                  <a:lnTo>
                    <a:pt x="0" y="662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14400" y="676275"/>
            <a:ext cx="457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REVERSE ENGINEERING REPORT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44750" y="676275"/>
            <a:ext cx="278606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Model: Lapcare WL 300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3395367"/>
            <a:ext cx="8191024" cy="1586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4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Lapcare 2.4G Wireless Mouse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5191420"/>
            <a:ext cx="957262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Teardown, Hardware Inventory &amp; Architectural Analysis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0150" y="6315370"/>
            <a:ext cx="262532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PCB Marking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0150" y="6620170"/>
            <a:ext cx="2625328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QKTR-WK-611-4D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00512" y="6315370"/>
            <a:ext cx="174307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Power Rating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00512" y="6620170"/>
            <a:ext cx="1743075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5V = 100mA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300412"/>
            <a:ext cx="7715250" cy="1485900"/>
            <a:chOff x="0" y="0"/>
            <a:chExt cx="10287000" cy="198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870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2870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0058400" y="0"/>
                  </a:lnTo>
                  <a:cubicBezTo>
                    <a:pt x="10184638" y="0"/>
                    <a:pt x="10287000" y="102362"/>
                    <a:pt x="10287000" y="228600"/>
                  </a:cubicBezTo>
                  <a:lnTo>
                    <a:pt x="10287000" y="1752600"/>
                  </a:lnTo>
                  <a:cubicBezTo>
                    <a:pt x="10287000" y="1878838"/>
                    <a:pt x="10184638" y="1981200"/>
                    <a:pt x="10058400" y="1981200"/>
                  </a:cubicBezTo>
                  <a:lnTo>
                    <a:pt x="228600" y="1981200"/>
                  </a:lnTo>
                  <a:cubicBezTo>
                    <a:pt x="102362" y="1981200"/>
                    <a:pt x="0" y="1878838"/>
                    <a:pt x="0" y="1752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072062"/>
            <a:ext cx="7715250" cy="1485900"/>
            <a:chOff x="0" y="0"/>
            <a:chExt cx="10287000" cy="1981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870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2870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0058400" y="0"/>
                  </a:lnTo>
                  <a:cubicBezTo>
                    <a:pt x="10184638" y="0"/>
                    <a:pt x="10287000" y="102362"/>
                    <a:pt x="10287000" y="228600"/>
                  </a:cubicBezTo>
                  <a:lnTo>
                    <a:pt x="10287000" y="1752600"/>
                  </a:lnTo>
                  <a:cubicBezTo>
                    <a:pt x="10287000" y="1878838"/>
                    <a:pt x="10184638" y="1981200"/>
                    <a:pt x="10058400" y="1981200"/>
                  </a:cubicBezTo>
                  <a:lnTo>
                    <a:pt x="228600" y="1981200"/>
                  </a:lnTo>
                  <a:cubicBezTo>
                    <a:pt x="102362" y="1981200"/>
                    <a:pt x="0" y="1878838"/>
                    <a:pt x="0" y="1752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6843712"/>
            <a:ext cx="7715250" cy="1485900"/>
            <a:chOff x="0" y="0"/>
            <a:chExt cx="10287000" cy="198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870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2870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0058400" y="0"/>
                  </a:lnTo>
                  <a:cubicBezTo>
                    <a:pt x="10184638" y="0"/>
                    <a:pt x="10287000" y="102362"/>
                    <a:pt x="10287000" y="228600"/>
                  </a:cubicBezTo>
                  <a:lnTo>
                    <a:pt x="10287000" y="1752600"/>
                  </a:lnTo>
                  <a:cubicBezTo>
                    <a:pt x="10287000" y="1878838"/>
                    <a:pt x="10184638" y="1981200"/>
                    <a:pt x="10058400" y="1981200"/>
                  </a:cubicBezTo>
                  <a:lnTo>
                    <a:pt x="228600" y="1981200"/>
                  </a:lnTo>
                  <a:cubicBezTo>
                    <a:pt x="102362" y="1981200"/>
                    <a:pt x="0" y="1878838"/>
                    <a:pt x="0" y="1752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01150" y="2528888"/>
            <a:ext cx="8172450" cy="6572250"/>
            <a:chOff x="0" y="0"/>
            <a:chExt cx="10896600" cy="8763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896600" cy="8763000"/>
            </a:xfrm>
            <a:custGeom>
              <a:avLst/>
              <a:gdLst/>
              <a:ahLst/>
              <a:cxnLst/>
              <a:rect r="r" b="b" t="t" l="l"/>
              <a:pathLst>
                <a:path h="8763000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8763000"/>
                  </a:lnTo>
                  <a:lnTo>
                    <a:pt x="0" y="876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429750" y="2757488"/>
            <a:ext cx="7715250" cy="6115050"/>
            <a:chOff x="0" y="0"/>
            <a:chExt cx="10287000" cy="81534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287000" cy="8153400"/>
            </a:xfrm>
            <a:custGeom>
              <a:avLst/>
              <a:gdLst/>
              <a:ahLst/>
              <a:cxnLst/>
              <a:rect r="r" b="b" t="t" l="l"/>
              <a:pathLst>
                <a:path h="81534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8153400"/>
                  </a:lnTo>
                  <a:lnTo>
                    <a:pt x="0" y="815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3679031"/>
            <a:ext cx="285750" cy="285750"/>
            <a:chOff x="0" y="0"/>
            <a:chExt cx="381000" cy="3810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00" r="0" b="-250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" y="5450681"/>
            <a:ext cx="285750" cy="285750"/>
            <a:chOff x="0" y="0"/>
            <a:chExt cx="381000" cy="3810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500" r="0" b="-250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57300" y="7222331"/>
            <a:ext cx="285750" cy="285750"/>
            <a:chOff x="0" y="0"/>
            <a:chExt cx="381000" cy="3810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500" r="0" b="-250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14400" y="6762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PHYSICAL INSPECTION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1028700"/>
            <a:ext cx="173736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External Specifications &amp; Interface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7300" y="4105275"/>
            <a:ext cx="87868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100mm × 60mm × 38mm form factor.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7300" y="5876925"/>
            <a:ext cx="87868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4 micro-switches plus rotary scroll encoder.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7300" y="7648575"/>
            <a:ext cx="87868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Optical lens window and ON/OFF slide switch.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4500" y="3624262"/>
            <a:ext cx="4706836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Compact Ergonomic Shell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14500" y="5395912"/>
            <a:ext cx="3506686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User Input Features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14500" y="7167562"/>
            <a:ext cx="4369298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Base Assembly Controls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72638" y="2757488"/>
            <a:ext cx="7700962" cy="1314450"/>
            <a:chOff x="0" y="0"/>
            <a:chExt cx="10267950" cy="1752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67950" cy="1752600"/>
            </a:xfrm>
            <a:custGeom>
              <a:avLst/>
              <a:gdLst/>
              <a:ahLst/>
              <a:cxnLst/>
              <a:rect r="r" b="b" t="t" l="l"/>
              <a:pathLst>
                <a:path h="1752600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1752600"/>
                  </a:lnTo>
                  <a:lnTo>
                    <a:pt x="0" y="17526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72638" y="4357688"/>
            <a:ext cx="7700962" cy="1314450"/>
            <a:chOff x="0" y="0"/>
            <a:chExt cx="10267950" cy="1752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67950" cy="1752600"/>
            </a:xfrm>
            <a:custGeom>
              <a:avLst/>
              <a:gdLst/>
              <a:ahLst/>
              <a:cxnLst/>
              <a:rect r="r" b="b" t="t" l="l"/>
              <a:pathLst>
                <a:path h="1752600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1752600"/>
                  </a:lnTo>
                  <a:lnTo>
                    <a:pt x="0" y="17526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72638" y="5957888"/>
            <a:ext cx="7700962" cy="1314450"/>
            <a:chOff x="0" y="0"/>
            <a:chExt cx="10267950" cy="1752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67950" cy="1752600"/>
            </a:xfrm>
            <a:custGeom>
              <a:avLst/>
              <a:gdLst/>
              <a:ahLst/>
              <a:cxnLst/>
              <a:rect r="r" b="b" t="t" l="l"/>
              <a:pathLst>
                <a:path h="1752600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1752600"/>
                  </a:lnTo>
                  <a:lnTo>
                    <a:pt x="0" y="17526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72638" y="7558088"/>
            <a:ext cx="7700962" cy="1314450"/>
            <a:chOff x="0" y="0"/>
            <a:chExt cx="10267950" cy="1752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67950" cy="1752600"/>
            </a:xfrm>
            <a:custGeom>
              <a:avLst/>
              <a:gdLst/>
              <a:ahLst/>
              <a:cxnLst/>
              <a:rect r="r" b="b" t="t" l="l"/>
              <a:pathLst>
                <a:path h="1752600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1752600"/>
                  </a:lnTo>
                  <a:lnTo>
                    <a:pt x="0" y="17526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72638" y="2757488"/>
            <a:ext cx="57150" cy="1314450"/>
            <a:chOff x="0" y="0"/>
            <a:chExt cx="76200" cy="1752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1752600"/>
            </a:xfrm>
            <a:custGeom>
              <a:avLst/>
              <a:gdLst/>
              <a:ahLst/>
              <a:cxnLst/>
              <a:rect r="r" b="b" t="t" l="l"/>
              <a:pathLst>
                <a:path h="1752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752600"/>
                  </a:lnTo>
                  <a:lnTo>
                    <a:pt x="0" y="17526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72638" y="4357688"/>
            <a:ext cx="57150" cy="1314450"/>
            <a:chOff x="0" y="0"/>
            <a:chExt cx="76200" cy="1752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1752600"/>
            </a:xfrm>
            <a:custGeom>
              <a:avLst/>
              <a:gdLst/>
              <a:ahLst/>
              <a:cxnLst/>
              <a:rect r="r" b="b" t="t" l="l"/>
              <a:pathLst>
                <a:path h="1752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752600"/>
                  </a:lnTo>
                  <a:lnTo>
                    <a:pt x="0" y="17526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72638" y="5957888"/>
            <a:ext cx="57150" cy="1314450"/>
            <a:chOff x="0" y="0"/>
            <a:chExt cx="76200" cy="1752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" cy="1752600"/>
            </a:xfrm>
            <a:custGeom>
              <a:avLst/>
              <a:gdLst/>
              <a:ahLst/>
              <a:cxnLst/>
              <a:rect r="r" b="b" t="t" l="l"/>
              <a:pathLst>
                <a:path h="1752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752600"/>
                  </a:lnTo>
                  <a:lnTo>
                    <a:pt x="0" y="17526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672638" y="7558088"/>
            <a:ext cx="57150" cy="1314450"/>
            <a:chOff x="0" y="0"/>
            <a:chExt cx="76200" cy="1752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200" cy="1752600"/>
            </a:xfrm>
            <a:custGeom>
              <a:avLst/>
              <a:gdLst/>
              <a:ahLst/>
              <a:cxnLst/>
              <a:rect r="r" b="b" t="t" l="l"/>
              <a:pathLst>
                <a:path h="1752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752600"/>
                  </a:lnTo>
                  <a:lnTo>
                    <a:pt x="0" y="17526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2528888"/>
            <a:ext cx="8186738" cy="6572250"/>
            <a:chOff x="0" y="0"/>
            <a:chExt cx="10915650" cy="87630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10915650" cy="8763000"/>
            </a:xfrm>
            <a:custGeom>
              <a:avLst/>
              <a:gdLst/>
              <a:ahLst/>
              <a:cxnLst/>
              <a:rect r="r" b="b" t="t" l="l"/>
              <a:pathLst>
                <a:path h="8763000" w="10915650">
                  <a:moveTo>
                    <a:pt x="0" y="0"/>
                  </a:moveTo>
                  <a:lnTo>
                    <a:pt x="10915650" y="0"/>
                  </a:lnTo>
                  <a:lnTo>
                    <a:pt x="10915650" y="8763000"/>
                  </a:lnTo>
                  <a:lnTo>
                    <a:pt x="0" y="876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57288" y="2771775"/>
            <a:ext cx="7700962" cy="6086475"/>
            <a:chOff x="0" y="0"/>
            <a:chExt cx="10267950" cy="81153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10267950" cy="8115300"/>
            </a:xfrm>
            <a:custGeom>
              <a:avLst/>
              <a:gdLst/>
              <a:ahLst/>
              <a:cxnLst/>
              <a:rect r="r" b="b" t="t" l="l"/>
              <a:pathLst>
                <a:path h="8115300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8115300"/>
                  </a:lnTo>
                  <a:lnTo>
                    <a:pt x="0" y="811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1" r="0" b="-141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14400" y="6762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HARDWARE DISASSEMBLY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1028700"/>
            <a:ext cx="173736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Teardown Sequence &amp; Structural Isolation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72688" y="3033713"/>
            <a:ext cx="82153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1. Enclosure Fastening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72688" y="3448050"/>
            <a:ext cx="82153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Single bottom retention screw holds housing.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72688" y="4633913"/>
            <a:ext cx="82153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2. Power Interconnect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72688" y="5048250"/>
            <a:ext cx="82153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2-pin white JST header CON1 links battery.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72688" y="6234113"/>
            <a:ext cx="82153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3. Substrate Material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72688" y="6648450"/>
            <a:ext cx="82153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Single-sided paper phenolic board layout.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72688" y="7834313"/>
            <a:ext cx="82153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4. Static Protection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72688" y="8248650"/>
            <a:ext cx="82153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ESD precautions applied before handling ICs.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3779044"/>
            <a:ext cx="9369695" cy="4014788"/>
            <a:chOff x="0" y="0"/>
            <a:chExt cx="12492926" cy="5353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92863" cy="5353050"/>
            </a:xfrm>
            <a:custGeom>
              <a:avLst/>
              <a:gdLst/>
              <a:ahLst/>
              <a:cxnLst/>
              <a:rect r="r" b="b" t="t" l="l"/>
              <a:pathLst>
                <a:path h="5353050" w="12492863">
                  <a:moveTo>
                    <a:pt x="0" y="229362"/>
                  </a:moveTo>
                  <a:cubicBezTo>
                    <a:pt x="0" y="102743"/>
                    <a:pt x="102743" y="0"/>
                    <a:pt x="229362" y="0"/>
                  </a:cubicBezTo>
                  <a:lnTo>
                    <a:pt x="12263501" y="0"/>
                  </a:lnTo>
                  <a:cubicBezTo>
                    <a:pt x="12390120" y="0"/>
                    <a:pt x="12492863" y="102743"/>
                    <a:pt x="12492863" y="229362"/>
                  </a:cubicBezTo>
                  <a:lnTo>
                    <a:pt x="12492863" y="5123688"/>
                  </a:lnTo>
                  <a:cubicBezTo>
                    <a:pt x="12492863" y="5250307"/>
                    <a:pt x="12390120" y="5353050"/>
                    <a:pt x="12263501" y="5353050"/>
                  </a:cubicBezTo>
                  <a:lnTo>
                    <a:pt x="229362" y="5353050"/>
                  </a:lnTo>
                  <a:cubicBezTo>
                    <a:pt x="102743" y="5353050"/>
                    <a:pt x="0" y="5250307"/>
                    <a:pt x="0" y="512368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784157" y="2786062"/>
            <a:ext cx="6589443" cy="6000750"/>
            <a:chOff x="0" y="0"/>
            <a:chExt cx="8785924" cy="8001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8785860" cy="8001000"/>
            </a:xfrm>
            <a:custGeom>
              <a:avLst/>
              <a:gdLst/>
              <a:ahLst/>
              <a:cxnLst/>
              <a:rect r="r" b="b" t="t" l="l"/>
              <a:pathLst>
                <a:path h="8001000" w="8785860">
                  <a:moveTo>
                    <a:pt x="0" y="0"/>
                  </a:moveTo>
                  <a:lnTo>
                    <a:pt x="8785860" y="0"/>
                  </a:lnTo>
                  <a:lnTo>
                    <a:pt x="8785860" y="8001000"/>
                  </a:lnTo>
                  <a:lnTo>
                    <a:pt x="0" y="800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6" t="0" r="-8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69895" y="2971800"/>
            <a:ext cx="6217968" cy="5629275"/>
            <a:chOff x="0" y="0"/>
            <a:chExt cx="8290623" cy="75057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8290560" cy="7505700"/>
            </a:xfrm>
            <a:custGeom>
              <a:avLst/>
              <a:gdLst/>
              <a:ahLst/>
              <a:cxnLst/>
              <a:rect r="r" b="b" t="t" l="l"/>
              <a:pathLst>
                <a:path h="750570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7505700"/>
                  </a:lnTo>
                  <a:lnTo>
                    <a:pt x="0" y="750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1" r="0" b="-161"/>
              </a:stretch>
            </a:blipFill>
          </p:spPr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928688" y="3800475"/>
          <a:ext cx="9296400" cy="3886200"/>
        </p:xfrm>
        <a:graphic>
          <a:graphicData uri="http://schemas.openxmlformats.org/drawingml/2006/table">
            <a:tbl>
              <a:tblPr/>
              <a:tblGrid>
                <a:gridCol w="1633696"/>
                <a:gridCol w="2370883"/>
                <a:gridCol w="2212009"/>
                <a:gridCol w="3079813"/>
              </a:tblGrid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Ref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Component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Package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Function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284C7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U1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MCU / Optical IC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Glob-top COB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Motion processing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284C7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RF Card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2.4G Transmitter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Daughterboard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2.4GHz RF transmission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284C7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SW1, SW2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Micro-switches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Snap Action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Click input triggers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284C7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SW3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Rotary Encoder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Metal Frame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Scroll wheel detection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284C7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C1, C2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Capacitors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100uF 10V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Power filtering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914400" y="6762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COMPONENT INVENTORY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1028700"/>
            <a:ext cx="173736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Internal Bill of Materials (BOM)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3250406"/>
            <a:ext cx="7715250" cy="1528762"/>
            <a:chOff x="0" y="0"/>
            <a:chExt cx="10287000" cy="2038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87000" cy="2038350"/>
            </a:xfrm>
            <a:custGeom>
              <a:avLst/>
              <a:gdLst/>
              <a:ahLst/>
              <a:cxnLst/>
              <a:rect r="r" b="b" t="t" l="l"/>
              <a:pathLst>
                <a:path h="2038350" w="10287000">
                  <a:moveTo>
                    <a:pt x="0" y="230759"/>
                  </a:moveTo>
                  <a:cubicBezTo>
                    <a:pt x="0" y="103251"/>
                    <a:pt x="103251" y="0"/>
                    <a:pt x="230759" y="0"/>
                  </a:cubicBezTo>
                  <a:lnTo>
                    <a:pt x="10056241" y="0"/>
                  </a:lnTo>
                  <a:cubicBezTo>
                    <a:pt x="10183749" y="0"/>
                    <a:pt x="10287000" y="103251"/>
                    <a:pt x="10287000" y="230759"/>
                  </a:cubicBezTo>
                  <a:lnTo>
                    <a:pt x="10287000" y="1807591"/>
                  </a:lnTo>
                  <a:cubicBezTo>
                    <a:pt x="10287000" y="1934972"/>
                    <a:pt x="10183749" y="2038350"/>
                    <a:pt x="10056241" y="2038350"/>
                  </a:cubicBezTo>
                  <a:lnTo>
                    <a:pt x="230759" y="2038350"/>
                  </a:lnTo>
                  <a:cubicBezTo>
                    <a:pt x="103251" y="2038350"/>
                    <a:pt x="0" y="1935099"/>
                    <a:pt x="0" y="1807591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07256" y="5050631"/>
            <a:ext cx="7715250" cy="1528762"/>
            <a:chOff x="0" y="0"/>
            <a:chExt cx="10287000" cy="2038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87000" cy="2038350"/>
            </a:xfrm>
            <a:custGeom>
              <a:avLst/>
              <a:gdLst/>
              <a:ahLst/>
              <a:cxnLst/>
              <a:rect r="r" b="b" t="t" l="l"/>
              <a:pathLst>
                <a:path h="2038350" w="10287000">
                  <a:moveTo>
                    <a:pt x="0" y="230759"/>
                  </a:moveTo>
                  <a:cubicBezTo>
                    <a:pt x="0" y="103251"/>
                    <a:pt x="103251" y="0"/>
                    <a:pt x="230759" y="0"/>
                  </a:cubicBezTo>
                  <a:lnTo>
                    <a:pt x="10056241" y="0"/>
                  </a:lnTo>
                  <a:cubicBezTo>
                    <a:pt x="10183749" y="0"/>
                    <a:pt x="10287000" y="103251"/>
                    <a:pt x="10287000" y="230759"/>
                  </a:cubicBezTo>
                  <a:lnTo>
                    <a:pt x="10287000" y="1807591"/>
                  </a:lnTo>
                  <a:cubicBezTo>
                    <a:pt x="10287000" y="1934972"/>
                    <a:pt x="10183749" y="2038350"/>
                    <a:pt x="10056241" y="2038350"/>
                  </a:cubicBezTo>
                  <a:lnTo>
                    <a:pt x="230759" y="2038350"/>
                  </a:lnTo>
                  <a:cubicBezTo>
                    <a:pt x="103251" y="2038350"/>
                    <a:pt x="0" y="1935099"/>
                    <a:pt x="0" y="1807591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07256" y="6850856"/>
            <a:ext cx="7715250" cy="1528762"/>
            <a:chOff x="0" y="0"/>
            <a:chExt cx="10287000" cy="2038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87000" cy="2038350"/>
            </a:xfrm>
            <a:custGeom>
              <a:avLst/>
              <a:gdLst/>
              <a:ahLst/>
              <a:cxnLst/>
              <a:rect r="r" b="b" t="t" l="l"/>
              <a:pathLst>
                <a:path h="2038350" w="10287000">
                  <a:moveTo>
                    <a:pt x="0" y="230759"/>
                  </a:moveTo>
                  <a:cubicBezTo>
                    <a:pt x="0" y="103251"/>
                    <a:pt x="103251" y="0"/>
                    <a:pt x="230759" y="0"/>
                  </a:cubicBezTo>
                  <a:lnTo>
                    <a:pt x="10056241" y="0"/>
                  </a:lnTo>
                  <a:cubicBezTo>
                    <a:pt x="10183749" y="0"/>
                    <a:pt x="10287000" y="103251"/>
                    <a:pt x="10287000" y="230759"/>
                  </a:cubicBezTo>
                  <a:lnTo>
                    <a:pt x="10287000" y="1807591"/>
                  </a:lnTo>
                  <a:cubicBezTo>
                    <a:pt x="10287000" y="1934972"/>
                    <a:pt x="10183749" y="2038350"/>
                    <a:pt x="10056241" y="2038350"/>
                  </a:cubicBezTo>
                  <a:lnTo>
                    <a:pt x="230759" y="2038350"/>
                  </a:lnTo>
                  <a:cubicBezTo>
                    <a:pt x="103251" y="2038350"/>
                    <a:pt x="0" y="1935099"/>
                    <a:pt x="0" y="1807591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186862" y="3614738"/>
            <a:ext cx="8186738" cy="3957638"/>
            <a:chOff x="0" y="0"/>
            <a:chExt cx="10915650" cy="52768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915650" cy="5276850"/>
            </a:xfrm>
            <a:custGeom>
              <a:avLst/>
              <a:gdLst/>
              <a:ahLst/>
              <a:cxnLst/>
              <a:rect r="r" b="b" t="t" l="l"/>
              <a:pathLst>
                <a:path h="5276850" w="10915650">
                  <a:moveTo>
                    <a:pt x="0" y="0"/>
                  </a:moveTo>
                  <a:lnTo>
                    <a:pt x="10915650" y="0"/>
                  </a:lnTo>
                  <a:lnTo>
                    <a:pt x="10915650" y="5276850"/>
                  </a:lnTo>
                  <a:lnTo>
                    <a:pt x="0" y="5276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032" r="0" b="-3303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5458" y="3854082"/>
            <a:ext cx="7923842" cy="3523562"/>
            <a:chOff x="0" y="0"/>
            <a:chExt cx="10324426" cy="45910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324426" cy="4591050"/>
            </a:xfrm>
            <a:custGeom>
              <a:avLst/>
              <a:gdLst/>
              <a:ahLst/>
              <a:cxnLst/>
              <a:rect r="r" b="b" t="t" l="l"/>
              <a:pathLst>
                <a:path h="4591050" w="10324426">
                  <a:moveTo>
                    <a:pt x="0" y="0"/>
                  </a:moveTo>
                  <a:lnTo>
                    <a:pt x="10324426" y="0"/>
                  </a:lnTo>
                  <a:lnTo>
                    <a:pt x="10324426" y="4591050"/>
                  </a:lnTo>
                  <a:lnTo>
                    <a:pt x="0" y="459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9119" r="0" b="-39119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14400" y="6762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MANUFACTURING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1028700"/>
            <a:ext cx="173736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PCB Design &amp; Cost Engineering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1588" y="3595688"/>
            <a:ext cx="9169898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Single-Sided Traces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1588" y="4076700"/>
            <a:ext cx="873323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Paper phenolic substrate minimizes unit cost.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1588" y="5395912"/>
            <a:ext cx="9169898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Modular Daughterboard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1588" y="5876925"/>
            <a:ext cx="873323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Vertical RF sub-card enables layout reuse.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1588" y="7196138"/>
            <a:ext cx="9169898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Chip-On-Board Packaging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1588" y="7677150"/>
            <a:ext cx="873323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Glob-top epoxy cuts package expense.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3250406"/>
            <a:ext cx="6072535" cy="1528762"/>
            <a:chOff x="0" y="0"/>
            <a:chExt cx="8096713" cy="2038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96713" cy="2038350"/>
            </a:xfrm>
            <a:custGeom>
              <a:avLst/>
              <a:gdLst/>
              <a:ahLst/>
              <a:cxnLst/>
              <a:rect r="r" b="b" t="t" l="l"/>
              <a:pathLst>
                <a:path h="2038350" w="8096713">
                  <a:moveTo>
                    <a:pt x="0" y="230759"/>
                  </a:moveTo>
                  <a:cubicBezTo>
                    <a:pt x="0" y="103251"/>
                    <a:pt x="81267" y="0"/>
                    <a:pt x="181626" y="0"/>
                  </a:cubicBezTo>
                  <a:lnTo>
                    <a:pt x="7915087" y="0"/>
                  </a:lnTo>
                  <a:cubicBezTo>
                    <a:pt x="8015446" y="0"/>
                    <a:pt x="8096713" y="103251"/>
                    <a:pt x="8096713" y="230759"/>
                  </a:cubicBezTo>
                  <a:lnTo>
                    <a:pt x="8096713" y="1807591"/>
                  </a:lnTo>
                  <a:cubicBezTo>
                    <a:pt x="8096713" y="1934972"/>
                    <a:pt x="8015446" y="2038350"/>
                    <a:pt x="7915087" y="2038350"/>
                  </a:cubicBezTo>
                  <a:lnTo>
                    <a:pt x="181626" y="2038350"/>
                  </a:lnTo>
                  <a:cubicBezTo>
                    <a:pt x="81267" y="2038350"/>
                    <a:pt x="0" y="1935099"/>
                    <a:pt x="0" y="1807591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07256" y="5050631"/>
            <a:ext cx="6072535" cy="1528762"/>
            <a:chOff x="0" y="0"/>
            <a:chExt cx="8096713" cy="2038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96713" cy="2038350"/>
            </a:xfrm>
            <a:custGeom>
              <a:avLst/>
              <a:gdLst/>
              <a:ahLst/>
              <a:cxnLst/>
              <a:rect r="r" b="b" t="t" l="l"/>
              <a:pathLst>
                <a:path h="2038350" w="8096713">
                  <a:moveTo>
                    <a:pt x="0" y="230759"/>
                  </a:moveTo>
                  <a:cubicBezTo>
                    <a:pt x="0" y="103251"/>
                    <a:pt x="81267" y="0"/>
                    <a:pt x="181626" y="0"/>
                  </a:cubicBezTo>
                  <a:lnTo>
                    <a:pt x="7915087" y="0"/>
                  </a:lnTo>
                  <a:cubicBezTo>
                    <a:pt x="8015446" y="0"/>
                    <a:pt x="8096713" y="103251"/>
                    <a:pt x="8096713" y="230759"/>
                  </a:cubicBezTo>
                  <a:lnTo>
                    <a:pt x="8096713" y="1807591"/>
                  </a:lnTo>
                  <a:cubicBezTo>
                    <a:pt x="8096713" y="1934972"/>
                    <a:pt x="8015446" y="2038350"/>
                    <a:pt x="7915087" y="2038350"/>
                  </a:cubicBezTo>
                  <a:lnTo>
                    <a:pt x="181626" y="2038350"/>
                  </a:lnTo>
                  <a:cubicBezTo>
                    <a:pt x="81267" y="2038350"/>
                    <a:pt x="0" y="1935099"/>
                    <a:pt x="0" y="1807591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07256" y="6850856"/>
            <a:ext cx="6072535" cy="1528762"/>
            <a:chOff x="0" y="0"/>
            <a:chExt cx="8096713" cy="2038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96713" cy="2038350"/>
            </a:xfrm>
            <a:custGeom>
              <a:avLst/>
              <a:gdLst/>
              <a:ahLst/>
              <a:cxnLst/>
              <a:rect r="r" b="b" t="t" l="l"/>
              <a:pathLst>
                <a:path h="2038350" w="8096713">
                  <a:moveTo>
                    <a:pt x="0" y="230759"/>
                  </a:moveTo>
                  <a:cubicBezTo>
                    <a:pt x="0" y="103251"/>
                    <a:pt x="81267" y="0"/>
                    <a:pt x="181626" y="0"/>
                  </a:cubicBezTo>
                  <a:lnTo>
                    <a:pt x="7915087" y="0"/>
                  </a:lnTo>
                  <a:cubicBezTo>
                    <a:pt x="8015446" y="0"/>
                    <a:pt x="8096713" y="103251"/>
                    <a:pt x="8096713" y="230759"/>
                  </a:cubicBezTo>
                  <a:lnTo>
                    <a:pt x="8096713" y="1807591"/>
                  </a:lnTo>
                  <a:cubicBezTo>
                    <a:pt x="8096713" y="1934972"/>
                    <a:pt x="8015446" y="2038350"/>
                    <a:pt x="7915087" y="2038350"/>
                  </a:cubicBezTo>
                  <a:lnTo>
                    <a:pt x="181626" y="2038350"/>
                  </a:lnTo>
                  <a:cubicBezTo>
                    <a:pt x="81267" y="2038350"/>
                    <a:pt x="0" y="1935099"/>
                    <a:pt x="0" y="1807591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327632" y="2832497"/>
            <a:ext cx="10771994" cy="5850731"/>
            <a:chOff x="0" y="0"/>
            <a:chExt cx="14362659" cy="7800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62660" cy="7800975"/>
            </a:xfrm>
            <a:custGeom>
              <a:avLst/>
              <a:gdLst/>
              <a:ahLst/>
              <a:cxnLst/>
              <a:rect r="r" b="b" t="t" l="l"/>
              <a:pathLst>
                <a:path h="7800975" w="14362660">
                  <a:moveTo>
                    <a:pt x="0" y="0"/>
                  </a:moveTo>
                  <a:lnTo>
                    <a:pt x="14362660" y="0"/>
                  </a:lnTo>
                  <a:lnTo>
                    <a:pt x="14362660" y="7800975"/>
                  </a:lnTo>
                  <a:lnTo>
                    <a:pt x="0" y="7800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762" r="0" b="-576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14400" y="676275"/>
            <a:ext cx="476797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REVERSE ENGINEERING PROJECT SIMULATION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1028700"/>
            <a:ext cx="4826556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TinkerCAD Simulation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1588" y="3609975"/>
            <a:ext cx="514385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Push Buttons used as Mouse Buttons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1588" y="4076700"/>
            <a:ext cx="168723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2 buttons used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1588" y="5395912"/>
            <a:ext cx="149280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PIR sensor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1588" y="5876925"/>
            <a:ext cx="483096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PIR sensor simulating Mouse’s IR tracking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1588" y="7196138"/>
            <a:ext cx="192119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Potentiometer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1588" y="7596187"/>
            <a:ext cx="5708203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Potentiometer used to simulate Mouse’s middle scroll button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062211"/>
            <a:ext cx="16459200" cy="1557338"/>
            <a:chOff x="0" y="0"/>
            <a:chExt cx="21945600" cy="2076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076450"/>
            </a:xfrm>
            <a:custGeom>
              <a:avLst/>
              <a:gdLst/>
              <a:ahLst/>
              <a:cxnLst/>
              <a:rect r="r" b="b" t="t" l="l"/>
              <a:pathLst>
                <a:path h="2076450" w="219456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21640800" y="0"/>
                  </a:lnTo>
                  <a:cubicBezTo>
                    <a:pt x="21809075" y="0"/>
                    <a:pt x="21945600" y="136398"/>
                    <a:pt x="21945600" y="304800"/>
                  </a:cubicBezTo>
                  <a:lnTo>
                    <a:pt x="21945600" y="1771650"/>
                  </a:lnTo>
                  <a:cubicBezTo>
                    <a:pt x="21945600" y="1939925"/>
                    <a:pt x="21809202" y="2076450"/>
                    <a:pt x="21640800" y="2076450"/>
                  </a:cubicBezTo>
                  <a:lnTo>
                    <a:pt x="304800" y="2076450"/>
                  </a:lnTo>
                  <a:cubicBezTo>
                    <a:pt x="136525" y="2076450"/>
                    <a:pt x="0" y="1940052"/>
                    <a:pt x="0" y="177165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6052985"/>
            <a:ext cx="5257800" cy="1857375"/>
            <a:chOff x="0" y="0"/>
            <a:chExt cx="7010400" cy="2476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104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7010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781800" y="0"/>
                  </a:lnTo>
                  <a:cubicBezTo>
                    <a:pt x="6908038" y="0"/>
                    <a:pt x="7010400" y="102362"/>
                    <a:pt x="7010400" y="228600"/>
                  </a:cubicBezTo>
                  <a:lnTo>
                    <a:pt x="7010400" y="2247900"/>
                  </a:lnTo>
                  <a:cubicBezTo>
                    <a:pt x="7010400" y="2374138"/>
                    <a:pt x="6908038" y="2476500"/>
                    <a:pt x="6781800" y="2476500"/>
                  </a:cubicBezTo>
                  <a:lnTo>
                    <a:pt x="228600" y="2476500"/>
                  </a:lnTo>
                  <a:cubicBezTo>
                    <a:pt x="102362" y="2476500"/>
                    <a:pt x="0" y="2374138"/>
                    <a:pt x="0" y="224790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15100" y="6052985"/>
            <a:ext cx="5257800" cy="1857375"/>
            <a:chOff x="0" y="0"/>
            <a:chExt cx="7010400" cy="2476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104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7010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781800" y="0"/>
                  </a:lnTo>
                  <a:cubicBezTo>
                    <a:pt x="6908038" y="0"/>
                    <a:pt x="7010400" y="102362"/>
                    <a:pt x="7010400" y="228600"/>
                  </a:cubicBezTo>
                  <a:lnTo>
                    <a:pt x="7010400" y="2247900"/>
                  </a:lnTo>
                  <a:cubicBezTo>
                    <a:pt x="7010400" y="2374138"/>
                    <a:pt x="6908038" y="2476500"/>
                    <a:pt x="6781800" y="2476500"/>
                  </a:cubicBezTo>
                  <a:lnTo>
                    <a:pt x="228600" y="2476500"/>
                  </a:lnTo>
                  <a:cubicBezTo>
                    <a:pt x="102362" y="2476500"/>
                    <a:pt x="0" y="2374138"/>
                    <a:pt x="0" y="224790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15800" y="6052985"/>
            <a:ext cx="5257800" cy="1857375"/>
            <a:chOff x="0" y="0"/>
            <a:chExt cx="7010400" cy="2476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104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7010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781800" y="0"/>
                  </a:lnTo>
                  <a:cubicBezTo>
                    <a:pt x="6908038" y="0"/>
                    <a:pt x="7010400" y="102362"/>
                    <a:pt x="7010400" y="228600"/>
                  </a:cubicBezTo>
                  <a:lnTo>
                    <a:pt x="7010400" y="2247900"/>
                  </a:lnTo>
                  <a:cubicBezTo>
                    <a:pt x="7010400" y="2374138"/>
                    <a:pt x="6908038" y="2476500"/>
                    <a:pt x="6781800" y="2476500"/>
                  </a:cubicBezTo>
                  <a:lnTo>
                    <a:pt x="228600" y="2476500"/>
                  </a:lnTo>
                  <a:cubicBezTo>
                    <a:pt x="102362" y="2476500"/>
                    <a:pt x="0" y="2374138"/>
                    <a:pt x="0" y="224790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6052985"/>
            <a:ext cx="5257800" cy="42862"/>
            <a:chOff x="0" y="0"/>
            <a:chExt cx="7010400" cy="571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10400" cy="57150"/>
            </a:xfrm>
            <a:custGeom>
              <a:avLst/>
              <a:gdLst/>
              <a:ahLst/>
              <a:cxnLst/>
              <a:rect r="r" b="b" t="t" l="l"/>
              <a:pathLst>
                <a:path h="5715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515100" y="6052985"/>
            <a:ext cx="5257800" cy="42862"/>
            <a:chOff x="0" y="0"/>
            <a:chExt cx="7010400" cy="57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10400" cy="57150"/>
            </a:xfrm>
            <a:custGeom>
              <a:avLst/>
              <a:gdLst/>
              <a:ahLst/>
              <a:cxnLst/>
              <a:rect r="r" b="b" t="t" l="l"/>
              <a:pathLst>
                <a:path h="5715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115800" y="6052985"/>
            <a:ext cx="5257800" cy="42862"/>
            <a:chOff x="0" y="0"/>
            <a:chExt cx="701040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10400" cy="57150"/>
            </a:xfrm>
            <a:custGeom>
              <a:avLst/>
              <a:gdLst/>
              <a:ahLst/>
              <a:cxnLst/>
              <a:rect r="r" b="b" t="t" l="l"/>
              <a:pathLst>
                <a:path h="5715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194724" y="3726580"/>
            <a:ext cx="142875" cy="228600"/>
            <a:chOff x="0" y="0"/>
            <a:chExt cx="190500" cy="3048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190500" cy="304800"/>
            </a:xfrm>
            <a:custGeom>
              <a:avLst/>
              <a:gdLst/>
              <a:ahLst/>
              <a:cxnLst/>
              <a:rect r="r" b="b" t="t" l="l"/>
              <a:pathLst>
                <a:path h="3048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66" t="0" r="-1759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446464" y="3726580"/>
            <a:ext cx="142875" cy="228600"/>
            <a:chOff x="0" y="0"/>
            <a:chExt cx="190500" cy="3048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190500" cy="304800"/>
            </a:xfrm>
            <a:custGeom>
              <a:avLst/>
              <a:gdLst/>
              <a:ahLst/>
              <a:cxnLst/>
              <a:rect r="r" b="b" t="t" l="l"/>
              <a:pathLst>
                <a:path h="3048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66" t="0" r="-1759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698213" y="3726580"/>
            <a:ext cx="142875" cy="228600"/>
            <a:chOff x="0" y="0"/>
            <a:chExt cx="190500" cy="3048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190500" cy="304800"/>
            </a:xfrm>
            <a:custGeom>
              <a:avLst/>
              <a:gdLst/>
              <a:ahLst/>
              <a:cxnLst/>
              <a:rect r="r" b="b" t="t" l="l"/>
              <a:pathLst>
                <a:path h="3048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66" t="0" r="-1759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949953" y="3726580"/>
            <a:ext cx="142875" cy="228600"/>
            <a:chOff x="0" y="0"/>
            <a:chExt cx="190500" cy="3048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190500" cy="304800"/>
            </a:xfrm>
            <a:custGeom>
              <a:avLst/>
              <a:gdLst/>
              <a:ahLst/>
              <a:cxnLst/>
              <a:rect r="r" b="b" t="t" l="l"/>
              <a:pathLst>
                <a:path h="3048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66" t="0" r="-1759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447401" y="3462261"/>
            <a:ext cx="385762" cy="342900"/>
            <a:chOff x="0" y="0"/>
            <a:chExt cx="514350" cy="4572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514350" cy="457200"/>
            </a:xfrm>
            <a:custGeom>
              <a:avLst/>
              <a:gdLst/>
              <a:ahLst/>
              <a:cxnLst/>
              <a:rect r="r" b="b" t="t" l="l"/>
              <a:pathLst>
                <a:path h="4572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22" r="0" b="-22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699150" y="3462261"/>
            <a:ext cx="385762" cy="342900"/>
            <a:chOff x="0" y="0"/>
            <a:chExt cx="514350" cy="4572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514350" cy="457200"/>
            </a:xfrm>
            <a:custGeom>
              <a:avLst/>
              <a:gdLst/>
              <a:ahLst/>
              <a:cxnLst/>
              <a:rect r="r" b="b" t="t" l="l"/>
              <a:pathLst>
                <a:path h="4572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2" r="0" b="-225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972331" y="3462261"/>
            <a:ext cx="342900" cy="342900"/>
            <a:chOff x="0" y="0"/>
            <a:chExt cx="457200" cy="4572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181208" y="3462261"/>
            <a:ext cx="428625" cy="342900"/>
            <a:chOff x="0" y="0"/>
            <a:chExt cx="571500" cy="4572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571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02" r="0" b="-402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5454389" y="3462261"/>
            <a:ext cx="385762" cy="342900"/>
            <a:chOff x="0" y="0"/>
            <a:chExt cx="514350" cy="4572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514350" cy="457200"/>
            </a:xfrm>
            <a:custGeom>
              <a:avLst/>
              <a:gdLst/>
              <a:ahLst/>
              <a:cxnLst/>
              <a:rect r="r" b="b" t="t" l="l"/>
              <a:pathLst>
                <a:path h="4572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22" r="0" b="-225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14400" y="6762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SYSTEM ARCHITECTURE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00" y="1028700"/>
            <a:ext cx="173736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Functional Flow &amp; Design Conclusions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14400" y="9334281"/>
            <a:ext cx="437554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Lapcare WL 300 Teardown Complete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630400" y="9334281"/>
            <a:ext cx="3429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Reverse Engineering Analysis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82990" y="3900411"/>
            <a:ext cx="3314586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Battery Supply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234739" y="3900411"/>
            <a:ext cx="3314586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Switch &amp; Caps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486479" y="3900411"/>
            <a:ext cx="3314586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Glob-Top IC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738228" y="3900411"/>
            <a:ext cx="3314586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2.4G RF Card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989977" y="3900411"/>
            <a:ext cx="3314586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Host PC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57300" y="6419698"/>
            <a:ext cx="600075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Cost Optimization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57300" y="6900710"/>
            <a:ext cx="4714875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Paper substrate drastically cuts unit cost.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858000" y="6419698"/>
            <a:ext cx="600075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Modular Production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858000" y="6900710"/>
            <a:ext cx="4714875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Vertical RF card allows cross-model reuse.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458700" y="6419698"/>
            <a:ext cx="58293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Repairability Trade-Off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458700" y="6900710"/>
            <a:ext cx="4714875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Encapsulated COB limits component repair.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DAHXZTEGuqw</dc:identifier>
  <dcterms:modified xsi:type="dcterms:W3CDTF">2011-08-01T06:04:30Z</dcterms:modified>
  <cp:revision>1</cp:revision>
  <dc:title>FINAL Lapcare Mouse Reverse Engineering</dc:title>
</cp:coreProperties>
</file>